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Multi-Model Distributed Inference</a:t>
            </a:r>
          </a:p>
          <a:p>
            <a:pPr algn="ctr">
              <a:defRPr sz="2000">
                <a:solidFill>
                  <a:srgbClr val="3498DB"/>
                </a:solidFill>
              </a:defRPr>
            </a:pPr>
            <a:r>
              <a:t>Spark Cluster Benchmark — POC Results</a:t>
            </a:r>
            <a:br/>
            <a:r>
              <a:t>July 2026 | AIA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/>
            </a:pPr>
            <a:r>
              <a:t>10 ML models (signal classification, image recognition, object detection)</a:t>
            </a:r>
          </a:p>
          <a:p>
            <a:pPr>
              <a:spcAft>
                <a:spcPts val="1000"/>
              </a:spcAft>
              <a:defRPr sz="1800"/>
            </a:pPr>
            <a:r>
              <a:t>3 inference modes: Single GPU, Hybrid CPU+GPU, Distributed Spark</a:t>
            </a:r>
          </a:p>
          <a:p>
            <a:pPr>
              <a:spcAft>
                <a:spcPts val="1000"/>
              </a:spcAft>
              <a:defRPr sz="1800"/>
            </a:pPr>
            <a:r>
              <a:t>AWS cluster: m5.xlarge (master) + g4dn.xlarge (GPU worker)</a:t>
            </a:r>
          </a:p>
          <a:p>
            <a:pPr>
              <a:spcAft>
                <a:spcPts val="1000"/>
              </a:spcAft>
              <a:defRPr sz="1800"/>
            </a:pPr>
            <a:r>
              <a:t>25 benchmark runs across GPU/CPU/Hybrid with increasing data</a:t>
            </a:r>
          </a:p>
          <a:p>
            <a:pPr>
              <a:spcAft>
                <a:spcPts val="1000"/>
              </a:spcAft>
              <a:defRPr sz="1800"/>
            </a:pPr>
            <a:r>
              <a:t>Automated deployment via CDK + deploy script</a:t>
            </a:r>
          </a:p>
          <a:p>
            <a:pPr>
              <a:spcAft>
                <a:spcPts val="1000"/>
              </a:spcAft>
              <a:defRPr sz="1800"/>
            </a:pPr>
            <a:r>
              <a:t>Complete monitoring: CloudWatch + Spark UI + REST API capture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Cluster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/>
            </a:pPr>
            <a:r>
              <a:t>Master (10.0.0.187): Spark Master + Driver + CPU Worker</a:t>
            </a:r>
          </a:p>
          <a:p>
            <a:pPr>
              <a:spcAft>
                <a:spcPts val="1000"/>
              </a:spcAft>
              <a:defRPr sz="1800"/>
            </a:pPr>
            <a:r>
              <a:t>GPU Worker (10.0.0.45): Spark Worker + Tesla T4 GPU</a:t>
            </a:r>
          </a:p>
          <a:p>
            <a:pPr>
              <a:spcAft>
                <a:spcPts val="1000"/>
              </a:spcAft>
              <a:defRPr sz="1800"/>
            </a:pPr>
            <a:r>
              <a:t>Communication: Spark RPC over private VPC (port 7077)</a:t>
            </a:r>
          </a:p>
          <a:p>
            <a:pPr>
              <a:spcAft>
                <a:spcPts val="1000"/>
              </a:spcAft>
              <a:defRPr sz="1800"/>
            </a:pPr>
            <a:r>
              <a:t>Data distribution: RDD partitioning (not broadcast)</a:t>
            </a:r>
          </a:p>
          <a:p>
            <a:pPr>
              <a:spcAft>
                <a:spcPts val="1000"/>
              </a:spcAft>
              <a:defRPr sz="1800"/>
            </a:pPr>
            <a:r>
              <a:t>Model weights: Broadcast once (~75MB), cached on executors</a:t>
            </a:r>
          </a:p>
          <a:p>
            <a:pPr>
              <a:spcAft>
                <a:spcPts val="1000"/>
              </a:spcAft>
              <a:defRPr sz="1800"/>
            </a:pPr>
            <a:r>
              <a:t>mapPartitions: Models loaded ONCE per executor, reused across 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 Throughput Comparison</a:t>
            </a:r>
          </a:p>
        </p:txBody>
      </p:sp>
      <p:pic>
        <p:nvPicPr>
          <p:cNvPr id="4" name="Picture 3" descr="cluster_mod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Benchmark Results — All Modes at Maximum Load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Samples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Partitions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Throughput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GPU Speedup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gpu_only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61,700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2,923 /sec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21.1s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1.8x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cpu_only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61,700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1,588 /sec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38.9s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baseline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61,700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2,120 /sec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29.1s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1.3x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Single GPU*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30,087 /sec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22x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Hybrid GPU*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29,910 /sec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0.86s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22x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Throughput Scaling with Data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GPU advantage grows with more data</a:t>
            </a:r>
          </a:p>
          <a:p>
            <a:pPr>
              <a:spcAft>
                <a:spcPts val="800"/>
              </a:spcAft>
              <a:defRPr sz="1600"/>
            </a:pPr>
            <a:r>
              <a:t>5K samples: GPU slower (model load overhead)</a:t>
            </a:r>
          </a:p>
          <a:p>
            <a:pPr>
              <a:spcAft>
                <a:spcPts val="800"/>
              </a:spcAft>
              <a:defRPr sz="1600"/>
            </a:pPr>
            <a:r>
              <a:t>15K: breakeven point</a:t>
            </a:r>
          </a:p>
          <a:p>
            <a:pPr>
              <a:spcAft>
                <a:spcPts val="800"/>
              </a:spcAft>
              <a:defRPr sz="1600"/>
            </a:pPr>
            <a:r>
              <a:t>25K+: GPU 1.5-1.8x faster than CPU</a:t>
            </a:r>
          </a:p>
          <a:p>
            <a:pPr>
              <a:spcAft>
                <a:spcPts val="800"/>
              </a:spcAft>
              <a:defRPr sz="1600"/>
            </a:pPr>
            <a:r>
              <a:t>Bottleneck: CPU executor (9.14s vs GPU 0.33s)</a:t>
            </a:r>
          </a:p>
        </p:txBody>
      </p:sp>
      <p:pic>
        <p:nvPicPr>
          <p:cNvPr id="5" name="Picture 4" descr="cluster_scaling_by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943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Task Distribution Across Executors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/>
            </a:pPr>
            <a:r>
              <a:t>GPU executor: 5 of 6 tasks (83%)</a:t>
            </a:r>
          </a:p>
          <a:p>
            <a:pPr>
              <a:spcAft>
                <a:spcPts val="1000"/>
              </a:spcAft>
              <a:defRPr sz="1800"/>
            </a:pPr>
            <a:r>
              <a:t>CPU executor: 1 of 6 tasks (17%)</a:t>
            </a:r>
          </a:p>
          <a:p>
            <a:pPr>
              <a:spcAft>
                <a:spcPts val="1000"/>
              </a:spcAft>
              <a:defRPr sz="1800"/>
            </a:pPr>
            <a:r>
              <a:t>Spark auto-routes more work to faster executor</a:t>
            </a:r>
          </a:p>
          <a:p>
            <a:pPr>
              <a:spcAft>
                <a:spcPts val="1000"/>
              </a:spcAft>
              <a:defRPr sz="1800"/>
            </a:pPr>
            <a:r>
              <a:t>GPU per-task: 0.32s (32,128 samples/sec)</a:t>
            </a:r>
          </a:p>
          <a:p>
            <a:pPr>
              <a:spcAft>
                <a:spcPts val="1000"/>
              </a:spcAft>
              <a:defRPr sz="1800"/>
            </a:pPr>
            <a:r>
              <a:t>CPU per-task: 9.14s (1,125 samples/sec)</a:t>
            </a:r>
          </a:p>
          <a:p>
            <a:pPr>
              <a:spcAft>
                <a:spcPts val="1000"/>
              </a:spcAft>
              <a:defRPr sz="1800"/>
            </a:pPr>
            <a:r>
              <a:t>GPU is 13-29x faster per task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Task Execution Timeline (6 Partitions)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GPU Executor: P0(0.69s) → P2(0.32s) → P3(0.33s) → P4(0.33s) → P5(0.34s)</a:t>
            </a:r>
          </a:p>
          <a:p>
            <a:pPr>
              <a:spcAft>
                <a:spcPts val="800"/>
              </a:spcAft>
              <a:defRPr sz="1600"/>
            </a:pPr>
            <a:r>
              <a:t>CPU Executor: P1 ─────────── 9.14s ───────────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GPU total: 2.0s for 51,419 samples</a:t>
            </a:r>
          </a:p>
          <a:p>
            <a:pPr>
              <a:spcAft>
                <a:spcPts val="800"/>
              </a:spcAft>
              <a:defRPr sz="1600"/>
            </a:pPr>
            <a:r>
              <a:t>CPU total: 9.14s for 10,281 samples</a:t>
            </a:r>
          </a:p>
          <a:p>
            <a:pPr>
              <a:spcAft>
                <a:spcPts val="800"/>
              </a:spcAft>
              <a:defRPr sz="1600"/>
            </a:pPr>
            <a:r>
              <a:t>Wall clock = max(GPU, CPU) + overhead = 21.1s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INSIGHT: Total throughput limited by slowest executor</a:t>
            </a:r>
          </a:p>
        </p:txBody>
      </p:sp>
      <p:pic>
        <p:nvPicPr>
          <p:cNvPr id="5" name="Picture 4" descr="final_stage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943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mapPartitions: Load Models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/>
            </a:pPr>
            <a:r>
              <a:t>OLD (map): Each task loads 10 models → 1.6s × 6 tasks = 9.6s wasted</a:t>
            </a:r>
          </a:p>
          <a:p>
            <a:pPr>
              <a:spcAft>
                <a:spcPts val="1000"/>
              </a:spcAft>
              <a:defRPr sz="1800"/>
            </a:pPr>
            <a:r>
              <a:t>NEW (mapPartitions): Load once, reuse for all tasks on that executor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Partition 0 (first): Model load = 1.60s (cold)</a:t>
            </a:r>
          </a:p>
          <a:p>
            <a:pPr>
              <a:spcAft>
                <a:spcPts val="1000"/>
              </a:spcAft>
              <a:defRPr sz="1800"/>
            </a:pPr>
            <a:r>
              <a:t>Partition 2 (second): Model load = 0.53s (cached) → 3.1x faster</a:t>
            </a:r>
          </a:p>
          <a:p>
            <a:pPr>
              <a:spcAft>
                <a:spcPts val="1000"/>
              </a:spcAft>
              <a:defRPr sz="1800"/>
            </a:pPr>
            <a:r>
              <a:t>Partition 3-5: Model load = 0.51s (reused)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Total savings: ~5s on GPU executor</a:t>
            </a:r>
          </a:p>
          <a:p>
            <a:pPr>
              <a:spcAft>
                <a:spcPts val="1000"/>
              </a:spcAft>
              <a:defRPr sz="1800"/>
            </a:pPr>
            <a:r>
              <a:t>This is why distributed throughput improved from 1,880 → 2,923 /sec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 Load vs Inference Time</a:t>
            </a:r>
          </a:p>
        </p:txBody>
      </p:sp>
      <p:pic>
        <p:nvPicPr>
          <p:cNvPr id="4" name="Picture 3" descr="cluster_load_vs_in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GPU Confirmed in Spark Executor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/>
            </a:pPr>
            <a:r>
              <a:t>From executor stderr logs on 10.0.0.45: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  [Executor] partition=0, host=ip-10-0-0-45, cuda=True, device=cuda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Proof:</a:t>
            </a:r>
          </a:p>
          <a:p>
            <a:pPr>
              <a:spcAft>
                <a:spcPts val="1000"/>
              </a:spcAft>
              <a:defRPr sz="1800"/>
            </a:pPr>
            <a:r>
              <a:t>  - torch.cuda.is_available() = True inside executor subprocess</a:t>
            </a:r>
          </a:p>
          <a:p>
            <a:pPr>
              <a:spcAft>
                <a:spcPts val="1000"/>
              </a:spcAft>
              <a:defRPr sz="1800"/>
            </a:pPr>
            <a:r>
              <a:t>  - Models loaded on device='cuda' (Tesla T4)</a:t>
            </a:r>
          </a:p>
          <a:p>
            <a:pPr>
              <a:spcAft>
                <a:spcPts val="1000"/>
              </a:spcAft>
              <a:defRPr sz="1800"/>
            </a:pPr>
            <a:r>
              <a:t>  - Inference runs on GPU (0.32s vs 9.14s on CPU)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Fix applied: NVIDIA_VISIBLE_DEVICES=all + LD_LIBRARY_PATH in executor env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Per-Partition Throughput (GPU vs CPU)</a:t>
            </a:r>
          </a:p>
        </p:txBody>
      </p:sp>
      <p:pic>
        <p:nvPicPr>
          <p:cNvPr id="4" name="Picture 3" descr="cluster_partition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Challenges 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/>
            </a:pPr>
            <a:r>
              <a:t>1. GPU not visible in Spark executor → Set NVIDIA env vars in Spark config</a:t>
            </a:r>
          </a:p>
          <a:p>
            <a:pPr>
              <a:spcAft>
                <a:spcPts val="1000"/>
              </a:spcAft>
              <a:defRPr sz="1800"/>
            </a:pPr>
            <a:r>
              <a:t>2. Driver OOM on large data → Increase partitions, use mapPartitions</a:t>
            </a:r>
          </a:p>
          <a:p>
            <a:pPr>
              <a:spcAft>
                <a:spcPts val="1000"/>
              </a:spcAft>
              <a:defRPr sz="1800"/>
            </a:pPr>
            <a:r>
              <a:t>3. Task serialization &gt; 512MB → Increase spark.rpc.message.maxSize</a:t>
            </a:r>
          </a:p>
          <a:p>
            <a:pPr>
              <a:spcAft>
                <a:spcPts val="1000"/>
              </a:spcAft>
              <a:defRPr sz="1800"/>
            </a:pPr>
            <a:r>
              <a:t>4. Per-task model loading overhead → mapPartitions (load once)</a:t>
            </a:r>
          </a:p>
          <a:p>
            <a:pPr>
              <a:spcAft>
                <a:spcPts val="1000"/>
              </a:spcAft>
              <a:defRPr sz="1800"/>
            </a:pPr>
            <a:r>
              <a:t>5. CPU bottleneck limits cluster throughput → Need all-GPU cluster</a:t>
            </a:r>
          </a:p>
          <a:p>
            <a:pPr>
              <a:spcAft>
                <a:spcPts val="1000"/>
              </a:spcAft>
              <a:defRPr sz="1800"/>
            </a:pPr>
            <a:r>
              <a:t>6. SSM agent crashes under heavy load → Use larger instances</a:t>
            </a:r>
          </a:p>
          <a:p>
            <a:pPr>
              <a:spcAft>
                <a:spcPts val="1000"/>
              </a:spcAft>
              <a:defRPr sz="1800"/>
            </a:pPr>
            <a:r>
              <a:t>7. Docker GPU passthrough to subprocess → Fixed with env vars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Air-Gapped 5-Node Production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Hardware: 5 nodes × 256GB RAM × 24GB VRAM × 4TB disk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Single GPU (1 node): ~40,000-50,000 samples/sec</a:t>
            </a:r>
          </a:p>
          <a:p>
            <a:pPr>
              <a:spcAft>
                <a:spcPts val="800"/>
              </a:spcAft>
              <a:defRPr sz="1600"/>
            </a:pPr>
            <a:r>
              <a:t>Distributed 5 GPUs (current code): ~50,000-65,000 samples/sec</a:t>
            </a:r>
          </a:p>
          <a:p>
            <a:pPr>
              <a:spcAft>
                <a:spcPts val="800"/>
              </a:spcAft>
              <a:defRPr sz="1600"/>
            </a:pPr>
            <a:r>
              <a:t>Distributed optimized (persistent): ~150,000+ samples/sec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No CPU bottleneck (all nodes have GPU)</a:t>
            </a:r>
          </a:p>
          <a:p>
            <a:pPr>
              <a:spcAft>
                <a:spcPts val="800"/>
              </a:spcAft>
              <a:defRPr sz="1600"/>
            </a:pPr>
            <a:r>
              <a:t>No Docker GPU issues (native Spark install)</a:t>
            </a:r>
          </a:p>
          <a:p>
            <a:pPr>
              <a:spcAft>
                <a:spcPts val="800"/>
              </a:spcAft>
              <a:defRPr sz="1600"/>
            </a:pPr>
            <a:r>
              <a:t>No memory limits (256GB RAM per node)</a:t>
            </a:r>
          </a:p>
          <a:p>
            <a:pPr>
              <a:spcAft>
                <a:spcPts val="800"/>
              </a:spcAft>
              <a:defRPr sz="1600"/>
            </a:pPr>
            <a:r>
              <a:t>Standalone mode — simple, reliable, no extra infrastructure</a:t>
            </a:r>
          </a:p>
        </p:txBody>
      </p:sp>
      <p:pic>
        <p:nvPicPr>
          <p:cNvPr id="5" name="Picture 4" descr="final_projected_airga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943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Recommendations for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/>
            </a:pPr>
            <a:r>
              <a:t>1. Use Standalone mode (not YARN) — simplest for dedicated 5-node cluster</a:t>
            </a:r>
          </a:p>
          <a:p>
            <a:pPr>
              <a:spcAft>
                <a:spcPts val="1000"/>
              </a:spcAft>
              <a:defRPr sz="1800"/>
            </a:pPr>
            <a:r>
              <a:t>2. Install Spark natively (no Docker) — eliminates GPU subprocess issues</a:t>
            </a:r>
          </a:p>
          <a:p>
            <a:pPr>
              <a:spcAft>
                <a:spcPts val="1000"/>
              </a:spcAft>
              <a:defRPr sz="1800"/>
            </a:pPr>
            <a:r>
              <a:t>3. Set partitions = 5 (1 per GPU node) — each loads models once</a:t>
            </a:r>
          </a:p>
          <a:p>
            <a:pPr>
              <a:spcAft>
                <a:spcPts val="1000"/>
              </a:spcAft>
              <a:defRPr sz="1800"/>
            </a:pPr>
            <a:r>
              <a:t>4. Use mapPartitions — models persist across batches</a:t>
            </a:r>
          </a:p>
          <a:p>
            <a:pPr>
              <a:spcAft>
                <a:spcPts val="1000"/>
              </a:spcAft>
              <a:defRPr sz="1800"/>
            </a:pPr>
            <a:r>
              <a:t>5. Pre-bake model weights in deployment package — no downloads</a:t>
            </a:r>
          </a:p>
          <a:p>
            <a:pPr>
              <a:spcAft>
                <a:spcPts val="1000"/>
              </a:spcAft>
              <a:defRPr sz="1800"/>
            </a:pPr>
            <a:r>
              <a:t>6. Set spark.rpc.message.maxSize=2048 — large data handled easily</a:t>
            </a:r>
          </a:p>
          <a:p>
            <a:pPr>
              <a:spcAft>
                <a:spcPts val="1000"/>
              </a:spcAft>
              <a:defRPr sz="1800"/>
            </a:pPr>
            <a:r>
              <a:t>7. Enable NVIDIA MPS for multi-process GPU sharing</a:t>
            </a:r>
          </a:p>
          <a:p>
            <a:pPr>
              <a:spcAft>
                <a:spcPts val="1000"/>
              </a:spcAft>
              <a:defRPr sz="1800"/>
            </a:pPr>
            <a:r>
              <a:t>8. Monitor via Spark UI + nvidia-smi scripts (no CloudWatch in air-gap)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POC Complete</a:t>
            </a:r>
          </a:p>
          <a:p>
            <a:pPr algn="ctr">
              <a:defRPr sz="2000">
                <a:solidFill>
                  <a:srgbClr val="3498DB"/>
                </a:solidFill>
              </a:defRPr>
            </a:pPr>
            <a:r>
              <a:t>GPU distributed inference proven</a:t>
            </a:r>
            <a:br/>
            <a:r>
              <a:t>2,923 samples/sec (2-node) → projected 50,000+ (5-node)</a:t>
            </a:r>
            <a:br/>
            <a:r>
              <a:t>Zero task failures across 25 runs</a:t>
            </a:r>
            <a:br/>
            <a:r>
              <a:t>Framework ready for AIA team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